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3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823960" y="0"/>
            <a:ext cx="3383280" cy="6858000"/>
          </a:xfrm>
          <a:prstGeom prst="rect">
            <a:avLst/>
          </a:prstGeom>
          <a:solidFill>
            <a:srgbClr val="23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921240" y="0"/>
            <a:ext cx="2267712" cy="6858000"/>
          </a:xfrm>
          <a:prstGeom prst="rect">
            <a:avLst/>
          </a:prstGeom>
          <a:solidFill>
            <a:srgbClr val="1FB5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7498079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FFFFFF"/>
                </a:solidFill>
                <a:latin typeface="Aptos"/>
              </a:defRPr>
            </a:pPr>
            <a:r>
              <a:t>Suspicious IP</a:t>
            </a:r>
            <a:br/>
            <a:r>
              <a:t>Checker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2880360"/>
            <a:ext cx="71323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0">
                <a:solidFill>
                  <a:srgbClr val="CEE1EE"/>
                </a:solidFill>
                <a:latin typeface="Aptos"/>
              </a:defRPr>
            </a:pPr>
            <a:r>
              <a:t>IP reputation ? authorized log monitoring</a:t>
            </a:r>
            <a:br/>
            <a:r>
              <a:t>Dashboard and optional email alerts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534924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FFFFFF"/>
                </a:solidFill>
                <a:latin typeface="Aptos"/>
              </a:defRPr>
            </a:pPr>
            <a:r>
              <a:t>Windows ? Python ? Streamlit ? SQLite ? AbuseIPDB (optional)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035040"/>
            <a:ext cx="7223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CEE1EE"/>
                </a:solidFill>
                <a:latin typeface="Aptos"/>
              </a:defRPr>
            </a:pPr>
            <a:r>
              <a:t>A defensive review tool ? reports indicators; does not block traffic.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42415"/>
          </a:xfrm>
          <a:prstGeom prst="rect">
            <a:avLst/>
          </a:prstGeom>
          <a:solidFill>
            <a:srgbClr val="10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42415"/>
            <a:ext cx="12191695" cy="64008"/>
          </a:xfrm>
          <a:prstGeom prst="rect">
            <a:avLst/>
          </a:prstGeom>
          <a:solidFill>
            <a:srgbClr val="1FB5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64592"/>
            <a:ext cx="9966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FFFFFF"/>
                </a:solidFill>
                <a:latin typeface="Aptos"/>
              </a:defRPr>
            </a:pPr>
            <a:r>
              <a:t>Requirements covered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704088"/>
            <a:ext cx="9875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ACCEDE"/>
                </a:solidFill>
                <a:latin typeface="Aptos"/>
              </a:defRPr>
            </a:pPr>
            <a:r>
              <a:t>PROJECT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510528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5C6F82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08760"/>
            <a:ext cx="5303520" cy="1965960"/>
          </a:xfrm>
          <a:prstGeom prst="roundRect">
            <a:avLst/>
          </a:prstGeom>
          <a:solidFill>
            <a:srgbClr val="EDF4FA"/>
          </a:solidFill>
          <a:ln>
            <a:solidFill>
              <a:srgbClr val="D9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1673351"/>
            <a:ext cx="4901183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235B96"/>
                </a:solidFill>
                <a:latin typeface="Aptos"/>
              </a:defRPr>
            </a:pPr>
            <a:r>
              <a:t>IP reputation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176272"/>
            <a:ext cx="4846320" cy="118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33142"/>
                </a:solidFill>
                <a:latin typeface="Aptos"/>
              </a:defRPr>
            </a:pPr>
            <a:r>
              <a:t>Validate IPv4 / IPv6 input.</a:t>
            </a:r>
          </a:p>
          <a:p>
            <a:pPr>
              <a:spcAft>
                <a:spcPts val="1000"/>
              </a:spcAft>
              <a:defRPr sz="1700">
                <a:solidFill>
                  <a:srgbClr val="233142"/>
                </a:solidFill>
                <a:latin typeface="Aptos"/>
              </a:defRPr>
            </a:pPr>
            <a:r>
              <a:t>Check local CSV indicators.</a:t>
            </a:r>
          </a:p>
          <a:p>
            <a:pPr>
              <a:spcAft>
                <a:spcPts val="1000"/>
              </a:spcAft>
              <a:defRPr sz="1700">
                <a:solidFill>
                  <a:srgbClr val="233142"/>
                </a:solidFill>
                <a:latin typeface="Aptos"/>
              </a:defRPr>
            </a:pPr>
            <a:r>
              <a:t>Optionally enrich public IPs with AbuseIPDB.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6208" y="1508760"/>
            <a:ext cx="5303520" cy="1965960"/>
          </a:xfrm>
          <a:prstGeom prst="roundRect">
            <a:avLst/>
          </a:prstGeom>
          <a:solidFill>
            <a:srgbClr val="EDF4FA"/>
          </a:solidFill>
          <a:ln>
            <a:solidFill>
              <a:srgbClr val="D9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37376" y="1673351"/>
            <a:ext cx="4901183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FB5AA"/>
                </a:solidFill>
                <a:latin typeface="Aptos"/>
              </a:defRPr>
            </a:pPr>
            <a:r>
              <a:t>Own-server log monitoring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55664" y="2176272"/>
            <a:ext cx="4846320" cy="118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33142"/>
                </a:solidFill>
                <a:latin typeface="Aptos"/>
              </a:defRPr>
            </a:pPr>
            <a:r>
              <a:t>Scan manually or poll every 5 seconds.</a:t>
            </a:r>
          </a:p>
          <a:p>
            <a:pPr>
              <a:spcAft>
                <a:spcPts val="1000"/>
              </a:spcAft>
              <a:defRPr sz="1700">
                <a:solidFill>
                  <a:srgbClr val="233142"/>
                </a:solidFill>
                <a:latin typeface="Aptos"/>
              </a:defRPr>
            </a:pPr>
            <a:r>
              <a:t>Read only newly appended bytes.</a:t>
            </a:r>
          </a:p>
          <a:p>
            <a:pPr>
              <a:spcAft>
                <a:spcPts val="1000"/>
              </a:spcAft>
              <a:defRPr sz="1700">
                <a:solidFill>
                  <a:srgbClr val="233142"/>
                </a:solidFill>
                <a:latin typeface="Aptos"/>
              </a:defRPr>
            </a:pPr>
            <a:r>
              <a:t>Use only logs you own or are authorized to inspect.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703320"/>
            <a:ext cx="5303520" cy="1965960"/>
          </a:xfrm>
          <a:prstGeom prst="roundRect">
            <a:avLst/>
          </a:prstGeom>
          <a:solidFill>
            <a:srgbClr val="EDF4FA"/>
          </a:solidFill>
          <a:ln>
            <a:solidFill>
              <a:srgbClr val="D9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7" y="3867911"/>
            <a:ext cx="4901183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235B96"/>
                </a:solidFill>
                <a:latin typeface="Aptos"/>
              </a:defRPr>
            </a:pPr>
            <a:r>
              <a:t>Alerts and history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" y="4370831"/>
            <a:ext cx="4846320" cy="118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33142"/>
                </a:solidFill>
                <a:latin typeface="Aptos"/>
              </a:defRPr>
            </a:pPr>
            <a:r>
              <a:t>Dashboard status and suspicious findings.</a:t>
            </a:r>
          </a:p>
          <a:p>
            <a:pPr>
              <a:spcAft>
                <a:spcPts val="1000"/>
              </a:spcAft>
              <a:defRPr sz="1700">
                <a:solidFill>
                  <a:srgbClr val="233142"/>
                </a:solidFill>
                <a:latin typeface="Aptos"/>
              </a:defRPr>
            </a:pPr>
            <a:r>
              <a:t>Optional SMTP email for suspicious results.</a:t>
            </a:r>
          </a:p>
          <a:p>
            <a:pPr>
              <a:spcAft>
                <a:spcPts val="1000"/>
              </a:spcAft>
              <a:defRPr sz="1700">
                <a:solidFill>
                  <a:srgbClr val="233142"/>
                </a:solidFill>
                <a:latin typeface="Aptos"/>
              </a:defRPr>
            </a:pPr>
            <a:r>
              <a:t>SQLite history with CSV export.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6208" y="3703320"/>
            <a:ext cx="5303520" cy="1965960"/>
          </a:xfrm>
          <a:prstGeom prst="roundRect">
            <a:avLst/>
          </a:prstGeom>
          <a:solidFill>
            <a:srgbClr val="EDF4FA"/>
          </a:solidFill>
          <a:ln>
            <a:solidFill>
              <a:srgbClr val="D9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37376" y="3867911"/>
            <a:ext cx="4901183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235B96"/>
                </a:solidFill>
                <a:latin typeface="Aptos"/>
              </a:defRPr>
            </a:pPr>
            <a:r>
              <a:t>Safe defaults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55664" y="4370831"/>
            <a:ext cx="4846320" cy="118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33142"/>
                </a:solidFill>
                <a:latin typeface="Aptos"/>
              </a:defRPr>
            </a:pPr>
            <a:r>
              <a:t>Non-public addresses are local-only.</a:t>
            </a:r>
          </a:p>
          <a:p>
            <a:pPr>
              <a:spcAft>
                <a:spcPts val="1000"/>
              </a:spcAft>
              <a:defRPr sz="1700">
                <a:solidFill>
                  <a:srgbClr val="233142"/>
                </a:solidFill>
                <a:latin typeface="Aptos"/>
              </a:defRPr>
            </a:pPr>
            <a:r>
              <a:t>API / email credentials are optional.</a:t>
            </a:r>
          </a:p>
          <a:p>
            <a:pPr>
              <a:spcAft>
                <a:spcPts val="1000"/>
              </a:spcAft>
              <a:defRPr sz="1700">
                <a:solidFill>
                  <a:srgbClr val="233142"/>
                </a:solidFill>
                <a:latin typeface="Aptos"/>
              </a:defRPr>
            </a:pPr>
            <a:r>
              <a:t>No automatic blocking or remediation.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42415"/>
          </a:xfrm>
          <a:prstGeom prst="rect">
            <a:avLst/>
          </a:prstGeom>
          <a:solidFill>
            <a:srgbClr val="10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42415"/>
            <a:ext cx="12191695" cy="64008"/>
          </a:xfrm>
          <a:prstGeom prst="rect">
            <a:avLst/>
          </a:prstGeom>
          <a:solidFill>
            <a:srgbClr val="1FB5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64592"/>
            <a:ext cx="9966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FFFFFF"/>
                </a:solidFill>
                <a:latin typeface="Aptos"/>
              </a:defRPr>
            </a:pPr>
            <a:r>
              <a:t>How a check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704088"/>
            <a:ext cx="9875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ACCEDE"/>
                </a:solidFill>
                <a:latin typeface="Aptos"/>
              </a:defRPr>
            </a:pPr>
            <a:r>
              <a:t>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510528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5C6F82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011680"/>
            <a:ext cx="2011680" cy="2743200"/>
          </a:xfrm>
          <a:prstGeom prst="roundRect">
            <a:avLst/>
          </a:prstGeom>
          <a:solidFill>
            <a:srgbClr val="EDF4FA"/>
          </a:solidFill>
          <a:ln>
            <a:solidFill>
              <a:srgbClr val="D9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" y="2267712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FB5AA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2834640"/>
            <a:ext cx="1691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35B96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3401568"/>
            <a:ext cx="1691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3142"/>
                </a:solidFill>
                <a:latin typeface="Aptos"/>
              </a:defRPr>
            </a:pPr>
            <a:r>
              <a:t>IP entry or appended log 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42032" y="292608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1FB5AA"/>
                </a:solidFill>
                <a:latin typeface="Aptos"/>
              </a:defRPr>
            </a:pPr>
            <a:r>
              <a:t>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52928" y="2011680"/>
            <a:ext cx="2011680" cy="2743200"/>
          </a:xfrm>
          <a:prstGeom prst="roundRect">
            <a:avLst/>
          </a:prstGeom>
          <a:solidFill>
            <a:srgbClr val="EDF4FA"/>
          </a:solidFill>
          <a:ln>
            <a:solidFill>
              <a:srgbClr val="D9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17520" y="2267712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FB5AA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7520" y="2834640"/>
            <a:ext cx="1691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35B96"/>
                </a:solidFill>
                <a:latin typeface="Aptos"/>
              </a:defRPr>
            </a:pPr>
            <a:r>
              <a:t>Validate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3401568"/>
            <a:ext cx="1691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3142"/>
                </a:solidFill>
                <a:latin typeface="Aptos"/>
              </a:defRPr>
            </a:pPr>
            <a:r>
              <a:t>Normalize address; reject invalid input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92040" y="292608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1FB5AA"/>
                </a:solidFill>
                <a:latin typeface="Aptos"/>
              </a:defRPr>
            </a:pPr>
            <a:r>
              <a:t>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202936" y="2011680"/>
            <a:ext cx="2011680" cy="2743200"/>
          </a:xfrm>
          <a:prstGeom prst="roundRect">
            <a:avLst/>
          </a:prstGeom>
          <a:solidFill>
            <a:srgbClr val="EDF4FA"/>
          </a:solidFill>
          <a:ln>
            <a:solidFill>
              <a:srgbClr val="D9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67527" y="2267712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FB5AA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67527" y="2834640"/>
            <a:ext cx="1691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35B96"/>
                </a:solidFill>
                <a:latin typeface="Aptos"/>
              </a:defRPr>
            </a:pPr>
            <a:r>
              <a:t>Reputation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67527" y="3401568"/>
            <a:ext cx="1691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3142"/>
                </a:solidFill>
                <a:latin typeface="Aptos"/>
              </a:defRPr>
            </a:pPr>
            <a:r>
              <a:t>Local CSV + optional public-IP API lookup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42048" y="292608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1FB5AA"/>
                </a:solidFill>
                <a:latin typeface="Aptos"/>
              </a:defRPr>
            </a:pPr>
            <a:r>
              <a:t>?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552944" y="2011680"/>
            <a:ext cx="2011680" cy="2743200"/>
          </a:xfrm>
          <a:prstGeom prst="roundRect">
            <a:avLst/>
          </a:prstGeom>
          <a:solidFill>
            <a:srgbClr val="EDF4FA"/>
          </a:solidFill>
          <a:ln>
            <a:solidFill>
              <a:srgbClr val="D9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17536" y="2267712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FB5AA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17536" y="2834640"/>
            <a:ext cx="1691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35B96"/>
                </a:solidFill>
                <a:latin typeface="Aptos"/>
              </a:defRPr>
            </a:pPr>
            <a:r>
              <a:t>Decide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17536" y="3401568"/>
            <a:ext cx="1691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3142"/>
                </a:solidFill>
                <a:latin typeface="Aptos"/>
              </a:defRPr>
            </a:pPr>
            <a:r>
              <a:t>Local match or score ? threshold = suspicious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92056" y="292608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1FB5AA"/>
                </a:solidFill>
                <a:latin typeface="Aptos"/>
              </a:defRPr>
            </a:pPr>
            <a:r>
              <a:t>?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902952" y="2011680"/>
            <a:ext cx="2011680" cy="2743200"/>
          </a:xfrm>
          <a:prstGeom prst="roundRect">
            <a:avLst/>
          </a:prstGeom>
          <a:solidFill>
            <a:srgbClr val="EDF4FA"/>
          </a:solidFill>
          <a:ln>
            <a:solidFill>
              <a:srgbClr val="D9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67544" y="2267712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FB5AA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67544" y="2834640"/>
            <a:ext cx="1691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35B96"/>
                </a:solidFill>
                <a:latin typeface="Aptos"/>
              </a:defRPr>
            </a:pPr>
            <a:r>
              <a:t>Record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67544" y="3401568"/>
            <a:ext cx="1691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3142"/>
                </a:solidFill>
                <a:latin typeface="Aptos"/>
              </a:defRPr>
            </a:pPr>
            <a:r>
              <a:t>SQLite event + dashboard; optional email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534924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0233E"/>
                </a:solidFill>
                <a:latin typeface="Aptos"/>
              </a:defRPr>
            </a:pPr>
            <a:r>
              <a:t>A ?no reputation flag? is not proof that an address is safe.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42415"/>
          </a:xfrm>
          <a:prstGeom prst="rect">
            <a:avLst/>
          </a:prstGeom>
          <a:solidFill>
            <a:srgbClr val="10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42415"/>
            <a:ext cx="12191695" cy="64008"/>
          </a:xfrm>
          <a:prstGeom prst="rect">
            <a:avLst/>
          </a:prstGeom>
          <a:solidFill>
            <a:srgbClr val="1FB5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64592"/>
            <a:ext cx="9966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FFFFFF"/>
                </a:solidFill>
                <a:latin typeface="Aptos"/>
              </a:defRPr>
            </a:pPr>
            <a:r>
              <a:t>IP reputation and API key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704088"/>
            <a:ext cx="9875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ACCEDE"/>
                </a:solidFill>
                <a:latin typeface="Aptos"/>
              </a:defRPr>
            </a:pPr>
            <a:r>
              <a:t>THREAT 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510528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5C6F82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600200"/>
            <a:ext cx="5303520" cy="4251960"/>
          </a:xfrm>
          <a:prstGeom prst="roundRect">
            <a:avLst/>
          </a:prstGeom>
          <a:solidFill>
            <a:srgbClr val="EDF4FA"/>
          </a:solidFill>
          <a:ln>
            <a:solidFill>
              <a:srgbClr val="D9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764792"/>
            <a:ext cx="4901183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FB5AA"/>
                </a:solidFill>
                <a:latin typeface="Aptos"/>
              </a:defRPr>
            </a:pPr>
            <a:r>
              <a:t>Without an API key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5256" y="2267712"/>
            <a:ext cx="48463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33142"/>
                </a:solidFill>
                <a:latin typeface="Aptos"/>
              </a:defRPr>
            </a:pPr>
            <a:r>
              <a:t>The included local CSV still works.</a:t>
            </a:r>
          </a:p>
          <a:p>
            <a:pPr>
              <a:spcAft>
                <a:spcPts val="1000"/>
              </a:spcAft>
              <a:defRPr sz="1700">
                <a:solidFill>
                  <a:srgbClr val="233142"/>
                </a:solidFill>
                <a:latin typeface="Aptos"/>
              </a:defRPr>
            </a:pPr>
            <a:r>
              <a:t>A local match is flagged suspicious.</a:t>
            </a:r>
          </a:p>
          <a:p>
            <a:pPr>
              <a:spcAft>
                <a:spcPts val="1000"/>
              </a:spcAft>
              <a:defRPr sz="1700">
                <a:solidFill>
                  <a:srgbClr val="233142"/>
                </a:solidFill>
                <a:latin typeface="Aptos"/>
              </a:defRPr>
            </a:pPr>
            <a:r>
              <a:t>Other addresses show unknown reputation (no external evidence).</a:t>
            </a:r>
          </a:p>
          <a:p>
            <a:pPr>
              <a:spcAft>
                <a:spcPts val="1000"/>
              </a:spcAft>
              <a:defRPr sz="1700">
                <a:solidFill>
                  <a:srgbClr val="233142"/>
                </a:solidFill>
                <a:latin typeface="Aptos"/>
              </a:defRPr>
            </a:pPr>
            <a:r>
              <a:t>Local sample entries are documentation-reserved examples, not verified threats.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00200"/>
            <a:ext cx="5303520" cy="4251960"/>
          </a:xfrm>
          <a:prstGeom prst="roundRect">
            <a:avLst/>
          </a:prstGeom>
          <a:solidFill>
            <a:srgbClr val="EDF4FA"/>
          </a:solidFill>
          <a:ln>
            <a:solidFill>
              <a:srgbClr val="D9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1764792"/>
            <a:ext cx="4901183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235B96"/>
                </a:solidFill>
                <a:latin typeface="Aptos"/>
              </a:defRPr>
            </a:pPr>
            <a:r>
              <a:t>With an AbuseIPDB API key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37376" y="2267712"/>
            <a:ext cx="48463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33142"/>
                </a:solidFill>
                <a:latin typeface="Aptos"/>
              </a:defRPr>
            </a:pPr>
            <a:r>
              <a:t>Create an account and obtain your own API key from AbuseIPDB.</a:t>
            </a:r>
          </a:p>
          <a:p>
            <a:pPr>
              <a:spcAft>
                <a:spcPts val="1000"/>
              </a:spcAft>
              <a:defRPr sz="1600">
                <a:solidFill>
                  <a:srgbClr val="233142"/>
                </a:solidFill>
                <a:latin typeface="Aptos"/>
              </a:defRPr>
            </a:pPr>
            <a:r>
              <a:t>Set ABUSEIPDB_API_KEY in the private .env file.</a:t>
            </a:r>
          </a:p>
          <a:p>
            <a:pPr>
              <a:spcAft>
                <a:spcPts val="1000"/>
              </a:spcAft>
              <a:defRPr sz="1600">
                <a:solidFill>
                  <a:srgbClr val="233142"/>
                </a:solidFill>
                <a:latin typeface="Aptos"/>
              </a:defRPr>
            </a:pPr>
            <a:r>
              <a:t>Only globally routable IPs are submitted; checking discloses them to the provider.</a:t>
            </a:r>
          </a:p>
          <a:p>
            <a:pPr>
              <a:spcAft>
                <a:spcPts val="1000"/>
              </a:spcAft>
              <a:defRPr sz="1600">
                <a:solidFill>
                  <a:srgbClr val="233142"/>
                </a:solidFill>
                <a:latin typeface="Aptos"/>
              </a:defRPr>
            </a:pPr>
            <a:r>
              <a:t>Default suspicious threshold: abuse confidence score ? 50.</a:t>
            </a:r>
          </a:p>
          <a:p>
            <a:pPr>
              <a:spcAft>
                <a:spcPts val="1000"/>
              </a:spcAft>
              <a:defRPr sz="1600">
                <a:solidFill>
                  <a:srgbClr val="233142"/>
                </a:solidFill>
                <a:latin typeface="Aptos"/>
              </a:defRPr>
            </a:pPr>
            <a:r>
              <a:t>Provider quotas, account limits, accuracy, and availability apply.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42415"/>
          </a:xfrm>
          <a:prstGeom prst="rect">
            <a:avLst/>
          </a:prstGeom>
          <a:solidFill>
            <a:srgbClr val="10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42415"/>
            <a:ext cx="12191695" cy="64008"/>
          </a:xfrm>
          <a:prstGeom prst="rect">
            <a:avLst/>
          </a:prstGeom>
          <a:solidFill>
            <a:srgbClr val="1FB5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64592"/>
            <a:ext cx="9966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FFFFFF"/>
                </a:solidFill>
                <a:latin typeface="Aptos"/>
              </a:defRPr>
            </a:pPr>
            <a:r>
              <a:t>Live monitoring of your own logs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704088"/>
            <a:ext cx="9875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ACCEDE"/>
                </a:solidFill>
                <a:latin typeface="Aptos"/>
              </a:defRPr>
            </a:pPr>
            <a:r>
              <a:t>LOG MONITOR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510528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5C6F82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600200"/>
            <a:ext cx="5303520" cy="4206240"/>
          </a:xfrm>
          <a:prstGeom prst="roundRect">
            <a:avLst/>
          </a:prstGeom>
          <a:solidFill>
            <a:srgbClr val="EDF4FA"/>
          </a:solidFill>
          <a:ln>
            <a:solidFill>
              <a:srgbClr val="D9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764792"/>
            <a:ext cx="4901183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FB5AA"/>
                </a:solidFill>
                <a:latin typeface="Aptos"/>
              </a:defRPr>
            </a:pPr>
            <a:r>
              <a:t>Operation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5256" y="2267712"/>
            <a:ext cx="4846320" cy="3428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33142"/>
                </a:solidFill>
                <a:latin typeface="Aptos"/>
              </a:defRPr>
            </a:pPr>
            <a:r>
              <a:t>Choose a log file path in the dashboard.</a:t>
            </a:r>
          </a:p>
          <a:p>
            <a:pPr>
              <a:spcAft>
                <a:spcPts val="1000"/>
              </a:spcAft>
              <a:defRPr sz="1700">
                <a:solidFill>
                  <a:srgbClr val="233142"/>
                </a:solidFill>
                <a:latin typeface="Aptos"/>
              </a:defRPr>
            </a:pPr>
            <a:r>
              <a:t>Click ?Scan new log lines? or enable automatic monitoring.</a:t>
            </a:r>
          </a:p>
          <a:p>
            <a:pPr>
              <a:spcAft>
                <a:spcPts val="1000"/>
              </a:spcAft>
              <a:defRPr sz="1700">
                <a:solidFill>
                  <a:srgbClr val="233142"/>
                </a:solidFill>
                <a:latin typeface="Aptos"/>
              </a:defRPr>
            </a:pPr>
            <a:r>
              <a:t>Automatic polling runs every 5 seconds while the session is open.</a:t>
            </a:r>
          </a:p>
          <a:p>
            <a:pPr>
              <a:spcAft>
                <a:spcPts val="1000"/>
              </a:spcAft>
              <a:defRPr sz="1700">
                <a:solidFill>
                  <a:srgbClr val="233142"/>
                </a:solidFill>
                <a:latin typeface="Aptos"/>
              </a:defRPr>
            </a:pPr>
            <a:r>
              <a:t>The monitor stores a per-session byte offset and processes new appended lines.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00200"/>
            <a:ext cx="5303520" cy="4206240"/>
          </a:xfrm>
          <a:prstGeom prst="roundRect">
            <a:avLst/>
          </a:prstGeom>
          <a:solidFill>
            <a:srgbClr val="EDF4FA"/>
          </a:solidFill>
          <a:ln>
            <a:solidFill>
              <a:srgbClr val="D9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1764792"/>
            <a:ext cx="4901183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235B96"/>
                </a:solidFill>
                <a:latin typeface="Aptos"/>
              </a:defRPr>
            </a:pPr>
            <a:r>
              <a:t>Privacy and scope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37376" y="2267712"/>
            <a:ext cx="4846320" cy="3428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33142"/>
                </a:solidFill>
                <a:latin typeface="Aptos"/>
              </a:defRPr>
            </a:pPr>
            <a:r>
              <a:t>Valid IPv4 addresses are extracted, including private and reserved addresses.</a:t>
            </a:r>
          </a:p>
          <a:p>
            <a:pPr>
              <a:spcAft>
                <a:spcPts val="1000"/>
              </a:spcAft>
              <a:defRPr sz="1700">
                <a:solidFill>
                  <a:srgbClr val="233142"/>
                </a:solidFill>
                <a:latin typeface="Aptos"/>
              </a:defRPr>
            </a:pPr>
            <a:r>
              <a:t>Private / reserved addresses are checked only against the local CSV.</a:t>
            </a:r>
          </a:p>
          <a:p>
            <a:pPr>
              <a:spcAft>
                <a:spcPts val="1000"/>
              </a:spcAft>
              <a:defRPr sz="1700">
                <a:solidFill>
                  <a:srgbClr val="233142"/>
                </a:solidFill>
                <a:latin typeface="Aptos"/>
              </a:defRPr>
            </a:pPr>
            <a:r>
              <a:t>Public lookups are optional and disclose IPs to AbuseIPDB.</a:t>
            </a:r>
          </a:p>
          <a:p>
            <a:pPr>
              <a:spcAft>
                <a:spcPts val="1000"/>
              </a:spcAft>
              <a:defRPr sz="1700">
                <a:solidFill>
                  <a:srgbClr val="233142"/>
                </a:solidFill>
                <a:latin typeface="Aptos"/>
              </a:defRPr>
            </a:pPr>
            <a:r>
              <a:t>Log parsing is generic IPv4 extraction; this is not a Windows service.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42415"/>
          </a:xfrm>
          <a:prstGeom prst="rect">
            <a:avLst/>
          </a:prstGeom>
          <a:solidFill>
            <a:srgbClr val="10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42415"/>
            <a:ext cx="12191695" cy="64008"/>
          </a:xfrm>
          <a:prstGeom prst="rect">
            <a:avLst/>
          </a:prstGeom>
          <a:solidFill>
            <a:srgbClr val="1FB5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64592"/>
            <a:ext cx="9966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FFFFFF"/>
                </a:solidFill>
                <a:latin typeface="Aptos"/>
              </a:defRPr>
            </a:pPr>
            <a:r>
              <a:t>Dashboard alerts and event history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704088"/>
            <a:ext cx="9875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ACCEDE"/>
                </a:solidFill>
                <a:latin typeface="Aptos"/>
              </a:defRPr>
            </a:pPr>
            <a:r>
              <a:t>RESULTS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510528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5C6F82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600200"/>
            <a:ext cx="5303520" cy="4297680"/>
          </a:xfrm>
          <a:prstGeom prst="roundRect">
            <a:avLst/>
          </a:prstGeom>
          <a:solidFill>
            <a:srgbClr val="EDF4FA"/>
          </a:solidFill>
          <a:ln>
            <a:solidFill>
              <a:srgbClr val="D9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764792"/>
            <a:ext cx="4901183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FB5AA"/>
                </a:solidFill>
                <a:latin typeface="Aptos"/>
              </a:defRPr>
            </a:pPr>
            <a:r>
              <a:t>Dashboard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5256" y="2267712"/>
            <a:ext cx="4846320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33142"/>
                </a:solidFill>
                <a:latin typeface="Aptos"/>
              </a:defRPr>
            </a:pPr>
            <a:r>
              <a:t>SUSPICIOUS for a local match or API score at/above threshold.</a:t>
            </a:r>
          </a:p>
          <a:p>
            <a:pPr>
              <a:spcAft>
                <a:spcPts val="1000"/>
              </a:spcAft>
              <a:defRPr sz="1600">
                <a:solidFill>
                  <a:srgbClr val="233142"/>
                </a:solidFill>
                <a:latin typeface="Aptos"/>
              </a:defRPr>
            </a:pPr>
            <a:r>
              <a:t>NO REPUTATION FLAG only after a successful API response below threshold.</a:t>
            </a:r>
          </a:p>
          <a:p>
            <a:pPr>
              <a:spcAft>
                <a:spcPts val="1000"/>
              </a:spcAft>
              <a:defRPr sz="1600">
                <a:solidFill>
                  <a:srgbClr val="233142"/>
                </a:solidFill>
                <a:latin typeface="Aptos"/>
              </a:defRPr>
            </a:pPr>
            <a:r>
              <a:t>UNKNOWN / API UNAVAILABLE when no external result is available.</a:t>
            </a:r>
          </a:p>
          <a:p>
            <a:pPr>
              <a:spcAft>
                <a:spcPts val="1000"/>
              </a:spcAft>
              <a:defRPr sz="1600">
                <a:solidFill>
                  <a:srgbClr val="233142"/>
                </a:solidFill>
                <a:latin typeface="Aptos"/>
              </a:defRPr>
            </a:pPr>
            <a:r>
              <a:t>Errors are shown; an API failure is never presented as a clean result.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00200"/>
            <a:ext cx="5303520" cy="4297680"/>
          </a:xfrm>
          <a:prstGeom prst="roundRect">
            <a:avLst/>
          </a:prstGeom>
          <a:solidFill>
            <a:srgbClr val="EDF4FA"/>
          </a:solidFill>
          <a:ln>
            <a:solidFill>
              <a:srgbClr val="D9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1764792"/>
            <a:ext cx="4901183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235B96"/>
                </a:solidFill>
                <a:latin typeface="Aptos"/>
              </a:defRPr>
            </a:pPr>
            <a:r>
              <a:t>Email and storage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37376" y="2267712"/>
            <a:ext cx="4846320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33142"/>
                </a:solidFill>
                <a:latin typeface="Aptos"/>
              </a:defRPr>
            </a:pPr>
            <a:r>
              <a:t>Email is optional; configure all SMTP settings in .env.</a:t>
            </a:r>
          </a:p>
          <a:p>
            <a:pPr>
              <a:spcAft>
                <a:spcPts val="1000"/>
              </a:spcAft>
              <a:defRPr sz="1600">
                <a:solidFill>
                  <a:srgbClr val="233142"/>
                </a:solidFill>
                <a:latin typeface="Aptos"/>
              </a:defRPr>
            </a:pPr>
            <a:r>
              <a:t>Delivery uses SMTP STARTTLS; use a provider app password when required.</a:t>
            </a:r>
          </a:p>
          <a:p>
            <a:pPr>
              <a:spcAft>
                <a:spcPts val="1000"/>
              </a:spcAft>
              <a:defRPr sz="1600">
                <a:solidFill>
                  <a:srgbClr val="233142"/>
                </a:solidFill>
                <a:latin typeface="Aptos"/>
              </a:defRPr>
            </a:pPr>
            <a:r>
              <a:t>Suspicious checks trigger an email when SMTP is configured.</a:t>
            </a:r>
          </a:p>
          <a:p>
            <a:pPr>
              <a:spcAft>
                <a:spcPts val="1000"/>
              </a:spcAft>
              <a:defRPr sz="1600">
                <a:solidFill>
                  <a:srgbClr val="233142"/>
                </a:solidFill>
                <a:latin typeface="Aptos"/>
              </a:defRPr>
            </a:pPr>
            <a:r>
              <a:t>SQLite keeps check results; the dashboard can export history as CSV.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42415"/>
          </a:xfrm>
          <a:prstGeom prst="rect">
            <a:avLst/>
          </a:prstGeom>
          <a:solidFill>
            <a:srgbClr val="10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42415"/>
            <a:ext cx="12191695" cy="64008"/>
          </a:xfrm>
          <a:prstGeom prst="rect">
            <a:avLst/>
          </a:prstGeom>
          <a:solidFill>
            <a:srgbClr val="1FB5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64592"/>
            <a:ext cx="9966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FFFFFF"/>
                </a:solidFill>
                <a:latin typeface="Aptos"/>
              </a:defRPr>
            </a:pPr>
            <a:r>
              <a:t>Windows setup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704088"/>
            <a:ext cx="9875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ACCEDE"/>
                </a:solidFill>
                <a:latin typeface="Aptos"/>
              </a:defRPr>
            </a:pPr>
            <a:r>
              <a:t>INSTALL AND LAUNCH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510528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5C6F82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08760"/>
            <a:ext cx="10789920" cy="4526280"/>
          </a:xfrm>
          <a:prstGeom prst="roundRect">
            <a:avLst/>
          </a:prstGeom>
          <a:solidFill>
            <a:srgbClr val="EDF4FA"/>
          </a:solidFill>
          <a:ln>
            <a:solidFill>
              <a:srgbClr val="D9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673351"/>
            <a:ext cx="1038758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FB5AA"/>
                </a:solidFill>
                <a:latin typeface="Aptos"/>
              </a:defRPr>
            </a:pPr>
            <a:r>
              <a:t>PowerShell in the project folder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" y="2176272"/>
            <a:ext cx="1033272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33142"/>
                </a:solidFill>
                <a:latin typeface="Aptos"/>
              </a:defRPr>
            </a:pPr>
            <a:r>
              <a:t>1. py -m venv .venv</a:t>
            </a:r>
          </a:p>
          <a:p>
            <a:pPr>
              <a:spcAft>
                <a:spcPts val="1000"/>
              </a:spcAft>
              <a:defRPr sz="1800">
                <a:solidFill>
                  <a:srgbClr val="233142"/>
                </a:solidFill>
                <a:latin typeface="Aptos"/>
              </a:defRPr>
            </a:pPr>
            <a:r>
              <a:t>2. .\.venv\Scripts\Activate.ps1</a:t>
            </a:r>
          </a:p>
          <a:p>
            <a:pPr>
              <a:spcAft>
                <a:spcPts val="1000"/>
              </a:spcAft>
              <a:defRPr sz="1800">
                <a:solidFill>
                  <a:srgbClr val="233142"/>
                </a:solidFill>
                <a:latin typeface="Aptos"/>
              </a:defRPr>
            </a:pPr>
            <a:r>
              <a:t>3. python -m pip install -r requirements.txt</a:t>
            </a:r>
          </a:p>
          <a:p>
            <a:pPr>
              <a:spcAft>
                <a:spcPts val="1000"/>
              </a:spcAft>
              <a:defRPr sz="1800">
                <a:solidFill>
                  <a:srgbClr val="233142"/>
                </a:solidFill>
                <a:latin typeface="Aptos"/>
              </a:defRPr>
            </a:pPr>
            <a:r>
              <a:t>4. Copy-Item .env.example .env</a:t>
            </a:r>
          </a:p>
          <a:p>
            <a:pPr>
              <a:spcAft>
                <a:spcPts val="1000"/>
              </a:spcAft>
              <a:defRPr sz="1800">
                <a:solidFill>
                  <a:srgbClr val="233142"/>
                </a:solidFill>
                <a:latin typeface="Aptos"/>
              </a:defRPr>
            </a:pPr>
            <a:r>
              <a:t>5. streamlit run app.py</a:t>
            </a:r>
          </a:p>
          <a:p>
            <a:pPr>
              <a:spcAft>
                <a:spcPts val="1000"/>
              </a:spcAft>
              <a:defRPr sz="1800">
                <a:solidFill>
                  <a:srgbClr val="233142"/>
                </a:solidFill>
                <a:latin typeface="Aptos"/>
              </a:defRPr>
            </a:pPr>
            <a:r>
              <a:t>Open the localhost URL printed by Streamlit. If script activation is blocked, use Set-ExecutionPolicy -Scope Process -ExecutionPolicy Bypass.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42415"/>
          </a:xfrm>
          <a:prstGeom prst="rect">
            <a:avLst/>
          </a:prstGeom>
          <a:solidFill>
            <a:srgbClr val="10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42415"/>
            <a:ext cx="12191695" cy="64008"/>
          </a:xfrm>
          <a:prstGeom prst="rect">
            <a:avLst/>
          </a:prstGeom>
          <a:solidFill>
            <a:srgbClr val="1FB5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64592"/>
            <a:ext cx="9966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FFFFFF"/>
                </a:solidFill>
                <a:latin typeface="Aptos"/>
              </a:defRPr>
            </a:pPr>
            <a:r>
              <a:t>Safe sample test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704088"/>
            <a:ext cx="9875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ACCEDE"/>
                </a:solidFill>
                <a:latin typeface="Aptos"/>
              </a:defRPr>
            </a:pPr>
            <a:r>
              <a:t>TRY THE PROJECT WITHOUT CREDENTIALS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510528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5C6F82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554480"/>
            <a:ext cx="5303520" cy="4343400"/>
          </a:xfrm>
          <a:prstGeom prst="roundRect">
            <a:avLst/>
          </a:prstGeom>
          <a:solidFill>
            <a:srgbClr val="EDF4FA"/>
          </a:solidFill>
          <a:ln>
            <a:solidFill>
              <a:srgbClr val="D9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719072"/>
            <a:ext cx="4901183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FB5AA"/>
                </a:solidFill>
                <a:latin typeface="Aptos"/>
              </a:defRPr>
            </a:pPr>
            <a:r>
              <a:t>Verify a suspicious dashboard alert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5256" y="2221991"/>
            <a:ext cx="48463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33142"/>
                </a:solidFill>
                <a:latin typeface="Aptos"/>
              </a:defRPr>
            </a:pPr>
            <a:r>
              <a:t>Run python create_sample_log.py.</a:t>
            </a:r>
          </a:p>
          <a:p>
            <a:pPr>
              <a:spcAft>
                <a:spcPts val="1000"/>
              </a:spcAft>
              <a:defRPr sz="1600">
                <a:solidFill>
                  <a:srgbClr val="233142"/>
                </a:solidFill>
                <a:latin typeface="Aptos"/>
              </a:defRPr>
            </a:pPr>
            <a:r>
              <a:t>Open Live Log Monitor and select the sample_server.log path.</a:t>
            </a:r>
          </a:p>
          <a:p>
            <a:pPr>
              <a:spcAft>
                <a:spcPts val="1000"/>
              </a:spcAft>
              <a:defRPr sz="1600">
                <a:solidFill>
                  <a:srgbClr val="233142"/>
                </a:solidFill>
                <a:latin typeface="Aptos"/>
              </a:defRPr>
            </a:pPr>
            <a:r>
              <a:t>Scan once or enable automatic monitoring.</a:t>
            </a:r>
          </a:p>
          <a:p>
            <a:pPr>
              <a:spcAft>
                <a:spcPts val="1000"/>
              </a:spcAft>
              <a:defRPr sz="1600">
                <a:solidFill>
                  <a:srgbClr val="233142"/>
                </a:solidFill>
                <a:latin typeface="Aptos"/>
              </a:defRPr>
            </a:pPr>
            <a:r>
              <a:t>Expected: 198.51.100.23 matches the local demo list and is flagged.</a:t>
            </a:r>
          </a:p>
          <a:p>
            <a:pPr>
              <a:spcAft>
                <a:spcPts val="1000"/>
              </a:spcAft>
              <a:defRPr sz="1600">
                <a:solidFill>
                  <a:srgbClr val="233142"/>
                </a:solidFill>
                <a:latin typeface="Aptos"/>
              </a:defRPr>
            </a:pPr>
            <a:r>
              <a:t>This reserved example address is not sent to AbuseIPDB.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554480"/>
            <a:ext cx="5303520" cy="4343400"/>
          </a:xfrm>
          <a:prstGeom prst="roundRect">
            <a:avLst/>
          </a:prstGeom>
          <a:solidFill>
            <a:srgbClr val="EDF4FA"/>
          </a:solidFill>
          <a:ln>
            <a:solidFill>
              <a:srgbClr val="D9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1719072"/>
            <a:ext cx="4901183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235B96"/>
                </a:solidFill>
                <a:latin typeface="Aptos"/>
              </a:defRPr>
            </a:pPr>
            <a:r>
              <a:t>Run offline tests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37376" y="2221991"/>
            <a:ext cx="48463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33142"/>
                </a:solidFill>
                <a:latin typeface="Aptos"/>
              </a:defRPr>
            </a:pPr>
            <a:r>
              <a:t>python -m unittest discover -s tests -v</a:t>
            </a:r>
          </a:p>
          <a:p>
            <a:pPr>
              <a:spcAft>
                <a:spcPts val="1000"/>
              </a:spcAft>
              <a:defRPr sz="1600">
                <a:solidFill>
                  <a:srgbClr val="233142"/>
                </a:solidFill>
                <a:latin typeface="Aptos"/>
              </a:defRPr>
            </a:pPr>
            <a:r>
              <a:t>Tests mock provider responses; no live API request occurs.</a:t>
            </a:r>
          </a:p>
          <a:p>
            <a:pPr>
              <a:spcAft>
                <a:spcPts val="1000"/>
              </a:spcAft>
              <a:defRPr sz="1600">
                <a:solidFill>
                  <a:srgbClr val="233142"/>
                </a:solidFill>
                <a:latin typeface="Aptos"/>
              </a:defRPr>
            </a:pPr>
            <a:r>
              <a:t>No email is sent by tests.</a:t>
            </a:r>
          </a:p>
          <a:p>
            <a:pPr>
              <a:spcAft>
                <a:spcPts val="1000"/>
              </a:spcAft>
              <a:defRPr sz="1600">
                <a:solidFill>
                  <a:srgbClr val="233142"/>
                </a:solidFill>
                <a:latin typeface="Aptos"/>
              </a:defRPr>
            </a:pPr>
            <a:r>
              <a:t>Manual IP test: enter 198.51.100.23 and select Check IP.</a:t>
            </a:r>
          </a:p>
          <a:p>
            <a:pPr>
              <a:spcAft>
                <a:spcPts val="1000"/>
              </a:spcAft>
              <a:defRPr sz="1600">
                <a:solidFill>
                  <a:srgbClr val="233142"/>
                </a:solidFill>
                <a:latin typeface="Aptos"/>
              </a:defRPr>
            </a:pPr>
            <a:r>
              <a:t>Review saved events in Event History.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42415"/>
          </a:xfrm>
          <a:prstGeom prst="rect">
            <a:avLst/>
          </a:prstGeom>
          <a:solidFill>
            <a:srgbClr val="10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42415"/>
            <a:ext cx="12191695" cy="64008"/>
          </a:xfrm>
          <a:prstGeom prst="rect">
            <a:avLst/>
          </a:prstGeom>
          <a:solidFill>
            <a:srgbClr val="1FB5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64592"/>
            <a:ext cx="9966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FFFFFF"/>
                </a:solidFill>
                <a:latin typeface="Aptos"/>
              </a:defRPr>
            </a:pPr>
            <a:r>
              <a:t>Testing and verification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704088"/>
            <a:ext cx="9875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ACCEDE"/>
                </a:solidFill>
                <a:latin typeface="Aptos"/>
              </a:defRPr>
            </a:pPr>
            <a:r>
              <a:t>QUALITY CHECKS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510528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5C6F82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645920"/>
            <a:ext cx="5303520" cy="4114800"/>
          </a:xfrm>
          <a:prstGeom prst="roundRect">
            <a:avLst/>
          </a:prstGeom>
          <a:solidFill>
            <a:srgbClr val="EDF4FA"/>
          </a:solidFill>
          <a:ln>
            <a:solidFill>
              <a:srgbClr val="D9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810512"/>
            <a:ext cx="4901183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FB5AA"/>
                </a:solidFill>
                <a:latin typeface="Aptos"/>
              </a:defRPr>
            </a:pPr>
            <a:r>
              <a:t>Covered behavior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5256" y="2313432"/>
            <a:ext cx="4846320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33142"/>
                </a:solidFill>
                <a:latin typeface="Aptos"/>
              </a:defRPr>
            </a:pPr>
            <a:r>
              <a:t>Local indicator match and suspicious flag.</a:t>
            </a:r>
          </a:p>
          <a:p>
            <a:pPr>
              <a:spcAft>
                <a:spcPts val="1000"/>
              </a:spcAft>
              <a:defRPr sz="1700">
                <a:solidFill>
                  <a:srgbClr val="233142"/>
                </a:solidFill>
                <a:latin typeface="Aptos"/>
              </a:defRPr>
            </a:pPr>
            <a:r>
              <a:t>Invalid address rejection.</a:t>
            </a:r>
          </a:p>
          <a:p>
            <a:pPr>
              <a:spcAft>
                <a:spcPts val="1000"/>
              </a:spcAft>
              <a:defRPr sz="1700">
                <a:solidFill>
                  <a:srgbClr val="233142"/>
                </a:solidFill>
                <a:latin typeface="Aptos"/>
              </a:defRPr>
            </a:pPr>
            <a:r>
              <a:t>API threshold and malformed / failed response.</a:t>
            </a:r>
          </a:p>
          <a:p>
            <a:pPr>
              <a:spcAft>
                <a:spcPts val="1000"/>
              </a:spcAft>
              <a:defRPr sz="1700">
                <a:solidFill>
                  <a:srgbClr val="233142"/>
                </a:solidFill>
                <a:latin typeface="Aptos"/>
              </a:defRPr>
            </a:pPr>
            <a:r>
              <a:t>No provider submission for non-public IPs.</a:t>
            </a:r>
          </a:p>
          <a:p>
            <a:pPr>
              <a:spcAft>
                <a:spcPts val="1000"/>
              </a:spcAft>
              <a:defRPr sz="1700">
                <a:solidFill>
                  <a:srgbClr val="233142"/>
                </a:solidFill>
                <a:latin typeface="Aptos"/>
              </a:defRPr>
            </a:pPr>
            <a:r>
              <a:t>Incremental log reads and IPv4 extraction.</a:t>
            </a:r>
          </a:p>
          <a:p>
            <a:pPr>
              <a:spcAft>
                <a:spcPts val="1000"/>
              </a:spcAft>
              <a:defRPr sz="1700">
                <a:solidFill>
                  <a:srgbClr val="233142"/>
                </a:solidFill>
                <a:latin typeface="Aptos"/>
              </a:defRPr>
            </a:pPr>
            <a:r>
              <a:t>SQLite event storage.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45920"/>
            <a:ext cx="5303520" cy="4114800"/>
          </a:xfrm>
          <a:prstGeom prst="roundRect">
            <a:avLst/>
          </a:prstGeom>
          <a:solidFill>
            <a:srgbClr val="EDF4FA"/>
          </a:solidFill>
          <a:ln>
            <a:solidFill>
              <a:srgbClr val="D9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1810512"/>
            <a:ext cx="4901183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235B96"/>
                </a:solidFill>
                <a:latin typeface="Aptos"/>
              </a:defRPr>
            </a:pPr>
            <a:r>
              <a:t>What tests do not prove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37376" y="2313432"/>
            <a:ext cx="4846320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33142"/>
                </a:solidFill>
                <a:latin typeface="Aptos"/>
              </a:defRPr>
            </a:pPr>
            <a:r>
              <a:t>They do not validate real-world threat accuracy.</a:t>
            </a:r>
          </a:p>
          <a:p>
            <a:pPr>
              <a:spcAft>
                <a:spcPts val="1000"/>
              </a:spcAft>
              <a:defRPr sz="1700">
                <a:solidFill>
                  <a:srgbClr val="233142"/>
                </a:solidFill>
                <a:latin typeface="Aptos"/>
              </a:defRPr>
            </a:pPr>
            <a:r>
              <a:t>They do not verify account quotas or email deliverability.</a:t>
            </a:r>
          </a:p>
          <a:p>
            <a:pPr>
              <a:spcAft>
                <a:spcPts val="1000"/>
              </a:spcAft>
              <a:defRPr sz="1700">
                <a:solidFill>
                  <a:srgbClr val="233142"/>
                </a:solidFill>
                <a:latin typeface="Aptos"/>
              </a:defRPr>
            </a:pPr>
            <a:r>
              <a:t>They do not replace testing with your actual log format.</a:t>
            </a:r>
          </a:p>
          <a:p>
            <a:pPr>
              <a:spcAft>
                <a:spcPts val="1000"/>
              </a:spcAft>
              <a:defRPr sz="1700">
                <a:solidFill>
                  <a:srgbClr val="233142"/>
                </a:solidFill>
                <a:latin typeface="Aptos"/>
              </a:defRPr>
            </a:pPr>
            <a:r>
              <a:t>Use trusted, maintained indicators before operational use.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42415"/>
          </a:xfrm>
          <a:prstGeom prst="rect">
            <a:avLst/>
          </a:prstGeom>
          <a:solidFill>
            <a:srgbClr val="10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42415"/>
            <a:ext cx="12191695" cy="64008"/>
          </a:xfrm>
          <a:prstGeom prst="rect">
            <a:avLst/>
          </a:prstGeom>
          <a:solidFill>
            <a:srgbClr val="1FB5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64592"/>
            <a:ext cx="9966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FFFFFF"/>
                </a:solidFill>
                <a:latin typeface="Aptos"/>
              </a:defRPr>
            </a:pPr>
            <a:r>
              <a:t>API requirements and limitations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704088"/>
            <a:ext cx="9875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ACCEDE"/>
                </a:solidFill>
                <a:latin typeface="Aptos"/>
              </a:defRPr>
            </a:pPr>
            <a:r>
              <a:t>PRIVACY AND RESPONSIBLE USE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510528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5C6F82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554480"/>
            <a:ext cx="5303520" cy="4389120"/>
          </a:xfrm>
          <a:prstGeom prst="roundRect">
            <a:avLst/>
          </a:prstGeom>
          <a:solidFill>
            <a:srgbClr val="EDF4FA"/>
          </a:solidFill>
          <a:ln>
            <a:solidFill>
              <a:srgbClr val="D9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719072"/>
            <a:ext cx="4901183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FB5AA"/>
                </a:solidFill>
                <a:latin typeface="Aptos"/>
              </a:defRPr>
            </a:pPr>
            <a:r>
              <a:t>Credentials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5256" y="2221991"/>
            <a:ext cx="4846320" cy="3611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33142"/>
                </a:solidFill>
                <a:latin typeface="Aptos"/>
              </a:defRPr>
            </a:pPr>
            <a:r>
              <a:t>API key: optional for local-only use; needed for live AbuseIPDB results.</a:t>
            </a:r>
          </a:p>
          <a:p>
            <a:pPr>
              <a:spcAft>
                <a:spcPts val="1000"/>
              </a:spcAft>
              <a:defRPr sz="1600">
                <a:solidFill>
                  <a:srgbClr val="233142"/>
                </a:solidFill>
                <a:latin typeface="Aptos"/>
              </a:defRPr>
            </a:pPr>
            <a:r>
              <a:t>SMTP: optional; needed only to send email alerts.</a:t>
            </a:r>
          </a:p>
          <a:p>
            <a:pPr>
              <a:spcAft>
                <a:spcPts val="1000"/>
              </a:spcAft>
              <a:defRPr sz="1600">
                <a:solidFill>
                  <a:srgbClr val="233142"/>
                </a:solidFill>
                <a:latin typeface="Aptos"/>
              </a:defRPr>
            </a:pPr>
            <a:r>
              <a:t>Keep credentials in .env; never commit or share them.</a:t>
            </a:r>
          </a:p>
          <a:p>
            <a:pPr>
              <a:spcAft>
                <a:spcPts val="1000"/>
              </a:spcAft>
              <a:defRPr sz="1600">
                <a:solidFill>
                  <a:srgbClr val="233142"/>
                </a:solidFill>
                <a:latin typeface="Aptos"/>
              </a:defRPr>
            </a:pPr>
            <a:r>
              <a:t>Review provider terms and privacy implications before enabling lookups.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554480"/>
            <a:ext cx="5303520" cy="4389120"/>
          </a:xfrm>
          <a:prstGeom prst="roundRect">
            <a:avLst/>
          </a:prstGeom>
          <a:solidFill>
            <a:srgbClr val="EDF4FA"/>
          </a:solidFill>
          <a:ln>
            <a:solidFill>
              <a:srgbClr val="D9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1719072"/>
            <a:ext cx="4901183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235B96"/>
                </a:solidFill>
                <a:latin typeface="Aptos"/>
              </a:defRPr>
            </a:pPr>
            <a:r>
              <a:t>Limitations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37376" y="2221991"/>
            <a:ext cx="4846320" cy="3611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33142"/>
                </a:solidFill>
                <a:latin typeface="Aptos"/>
              </a:defRPr>
            </a:pPr>
            <a:r>
              <a:t>Threat data may be stale, incomplete, or wrong.</a:t>
            </a:r>
          </a:p>
          <a:p>
            <a:pPr>
              <a:spcAft>
                <a:spcPts val="1000"/>
              </a:spcAft>
              <a:defRPr sz="1600">
                <a:solidFill>
                  <a:srgbClr val="233142"/>
                </a:solidFill>
                <a:latin typeface="Aptos"/>
              </a:defRPr>
            </a:pPr>
            <a:r>
              <a:t>A low score / no flag does not establish safety.</a:t>
            </a:r>
          </a:p>
          <a:p>
            <a:pPr>
              <a:spcAft>
                <a:spcPts val="1000"/>
              </a:spcAft>
              <a:defRPr sz="1600">
                <a:solidFill>
                  <a:srgbClr val="233142"/>
                </a:solidFill>
                <a:latin typeface="Aptos"/>
              </a:defRPr>
            </a:pPr>
            <a:r>
              <a:t>Polling stops when the dashboard session closes.</a:t>
            </a:r>
          </a:p>
          <a:p>
            <a:pPr>
              <a:spcAft>
                <a:spcPts val="1000"/>
              </a:spcAft>
              <a:defRPr sz="1600">
                <a:solidFill>
                  <a:srgbClr val="233142"/>
                </a:solidFill>
                <a:latin typeface="Aptos"/>
              </a:defRPr>
            </a:pPr>
            <a:r>
              <a:t>Only IPv4 addresses are extracted from logs; no log-format parsing.</a:t>
            </a:r>
          </a:p>
          <a:p>
            <a:pPr>
              <a:spcAft>
                <a:spcPts val="1000"/>
              </a:spcAft>
              <a:defRPr sz="1600">
                <a:solidFill>
                  <a:srgbClr val="233142"/>
                </a:solidFill>
                <a:latin typeface="Aptos"/>
              </a:defRPr>
            </a:pPr>
            <a:r>
              <a:t>No automated firewall actions or blocking.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42415"/>
          </a:xfrm>
          <a:prstGeom prst="rect">
            <a:avLst/>
          </a:prstGeom>
          <a:solidFill>
            <a:srgbClr val="10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42415"/>
            <a:ext cx="12191695" cy="64008"/>
          </a:xfrm>
          <a:prstGeom prst="rect">
            <a:avLst/>
          </a:prstGeom>
          <a:solidFill>
            <a:srgbClr val="1FB5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64592"/>
            <a:ext cx="9966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FFFFFF"/>
                </a:solidFill>
                <a:latin typeface="Aptos"/>
              </a:defRPr>
            </a:pPr>
            <a:r>
              <a:t>End-to-end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704088"/>
            <a:ext cx="9875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ACCEDE"/>
                </a:solidFill>
                <a:latin typeface="Aptos"/>
              </a:defRPr>
            </a:pPr>
            <a:r>
              <a:t>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510528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5C6F82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645920"/>
            <a:ext cx="4800600" cy="3474720"/>
          </a:xfrm>
          <a:prstGeom prst="roundRect">
            <a:avLst/>
          </a:prstGeom>
          <a:solidFill>
            <a:srgbClr val="EDF4FA"/>
          </a:solidFill>
          <a:ln>
            <a:solidFill>
              <a:srgbClr val="D9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1810512"/>
            <a:ext cx="439826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FB5AA"/>
                </a:solidFill>
                <a:latin typeface="Aptos"/>
              </a:defRPr>
            </a:pPr>
            <a:r>
              <a:t>Detection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" y="2313432"/>
            <a:ext cx="4343400" cy="2697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33142"/>
                </a:solidFill>
                <a:latin typeface="Aptos"/>
              </a:defRPr>
            </a:pPr>
            <a:r>
              <a:t>IP input or authorized log.</a:t>
            </a:r>
          </a:p>
          <a:p>
            <a:pPr>
              <a:spcAft>
                <a:spcPts val="1000"/>
              </a:spcAft>
              <a:defRPr sz="1800">
                <a:solidFill>
                  <a:srgbClr val="233142"/>
                </a:solidFill>
                <a:latin typeface="Aptos"/>
              </a:defRPr>
            </a:pPr>
            <a:r>
              <a:t>Local indicator lookup.</a:t>
            </a:r>
          </a:p>
          <a:p>
            <a:pPr>
              <a:spcAft>
                <a:spcPts val="1000"/>
              </a:spcAft>
              <a:defRPr sz="1800">
                <a:solidFill>
                  <a:srgbClr val="233142"/>
                </a:solidFill>
                <a:latin typeface="Aptos"/>
              </a:defRPr>
            </a:pPr>
            <a:r>
              <a:t>Optional public-IP reputation query.</a:t>
            </a:r>
          </a:p>
          <a:p>
            <a:pPr>
              <a:spcAft>
                <a:spcPts val="1000"/>
              </a:spcAft>
              <a:defRPr sz="1800">
                <a:solidFill>
                  <a:srgbClr val="233142"/>
                </a:solidFill>
                <a:latin typeface="Aptos"/>
              </a:defRPr>
            </a:pPr>
            <a:r>
              <a:t>Human-readable suspicious / unknown result.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645920"/>
            <a:ext cx="4800600" cy="3474720"/>
          </a:xfrm>
          <a:prstGeom prst="roundRect">
            <a:avLst/>
          </a:prstGeom>
          <a:solidFill>
            <a:srgbClr val="EDF4FA"/>
          </a:solidFill>
          <a:ln>
            <a:solidFill>
              <a:srgbClr val="D9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01968" y="1810512"/>
            <a:ext cx="439826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235B96"/>
                </a:solidFill>
                <a:latin typeface="Aptos"/>
              </a:defRPr>
            </a:pPr>
            <a:r>
              <a:t>Response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0256" y="2313432"/>
            <a:ext cx="4343400" cy="2697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33142"/>
                </a:solidFill>
                <a:latin typeface="Aptos"/>
              </a:defRPr>
            </a:pPr>
            <a:r>
              <a:t>Dashboard alert.</a:t>
            </a:r>
          </a:p>
          <a:p>
            <a:pPr>
              <a:spcAft>
                <a:spcPts val="1000"/>
              </a:spcAft>
              <a:defRPr sz="1800">
                <a:solidFill>
                  <a:srgbClr val="233142"/>
                </a:solidFill>
                <a:latin typeface="Aptos"/>
              </a:defRPr>
            </a:pPr>
            <a:r>
              <a:t>Optional SMTP email.</a:t>
            </a:r>
          </a:p>
          <a:p>
            <a:pPr>
              <a:spcAft>
                <a:spcPts val="1000"/>
              </a:spcAft>
              <a:defRPr sz="1800">
                <a:solidFill>
                  <a:srgbClr val="233142"/>
                </a:solidFill>
                <a:latin typeface="Aptos"/>
              </a:defRPr>
            </a:pPr>
            <a:r>
              <a:t>SQLite event history.</a:t>
            </a:r>
          </a:p>
          <a:p>
            <a:pPr>
              <a:spcAft>
                <a:spcPts val="1000"/>
              </a:spcAft>
              <a:defRPr sz="1800">
                <a:solidFill>
                  <a:srgbClr val="233142"/>
                </a:solidFill>
                <a:latin typeface="Aptos"/>
              </a:defRPr>
            </a:pPr>
            <a:r>
              <a:t>CSV export for review.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532120"/>
            <a:ext cx="10241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0233E"/>
                </a:solidFill>
                <a:latin typeface="Aptos"/>
              </a:defRPr>
            </a:pPr>
            <a:r>
              <a:t>Use results as review leads, not as definitive verdicts.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42415"/>
          </a:xfrm>
          <a:prstGeom prst="rect">
            <a:avLst/>
          </a:prstGeom>
          <a:solidFill>
            <a:srgbClr val="10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42415"/>
            <a:ext cx="12191695" cy="64008"/>
          </a:xfrm>
          <a:prstGeom prst="rect">
            <a:avLst/>
          </a:prstGeom>
          <a:solidFill>
            <a:srgbClr val="1FB5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64592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  <a:latin typeface="Aptos"/>
              </a:defRPr>
            </a:pPr>
            <a:r>
              <a:t>Google sign-in and live deployment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713232"/>
            <a:ext cx="107899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ACCEDE"/>
                </a:solidFill>
                <a:latin typeface="Aptos"/>
              </a:defRPr>
            </a:pPr>
            <a:r>
              <a:t>ACCESS CONTROL AND HOSTING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45920"/>
            <a:ext cx="5303520" cy="4297680"/>
          </a:xfrm>
          <a:prstGeom prst="roundRect">
            <a:avLst/>
          </a:prstGeom>
          <a:solidFill>
            <a:srgbClr val="EDF4FA"/>
          </a:solidFill>
          <a:ln>
            <a:solidFill>
              <a:srgbClr val="D9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846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FB5AA"/>
                </a:solidFill>
                <a:latin typeface="Aptos"/>
              </a:defRPr>
            </a:pPr>
            <a:r>
              <a:t>Google OIDC access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404872"/>
            <a:ext cx="48463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233142"/>
                </a:solidFill>
                <a:latin typeface="Aptos"/>
              </a:defRPr>
            </a:pPr>
            <a:r>
              <a:t>Create a Google OAuth web client and configure its consent screen.</a:t>
            </a:r>
          </a:p>
          <a:p>
            <a:pPr>
              <a:spcAft>
                <a:spcPts val="1200"/>
              </a:spcAft>
              <a:defRPr sz="1600">
                <a:solidFill>
                  <a:srgbClr val="233142"/>
                </a:solidFill>
                <a:latin typeface="Aptos"/>
              </a:defRPr>
            </a:pPr>
            <a:r>
              <a:t>Set the exact Streamlit callback URL ending in /oauth2callback.</a:t>
            </a:r>
          </a:p>
          <a:p>
            <a:pPr>
              <a:spcAft>
                <a:spcPts val="1200"/>
              </a:spcAft>
              <a:defRPr sz="1600">
                <a:solidFill>
                  <a:srgbClr val="233142"/>
                </a:solidFill>
                <a:latin typeface="Aptos"/>
              </a:defRPr>
            </a:pPr>
            <a:r>
              <a:t>Put OAuth client values in Streamlit Cloud Secrets, never GitHub.</a:t>
            </a:r>
          </a:p>
          <a:p>
            <a:pPr>
              <a:spcAft>
                <a:spcPts val="1200"/>
              </a:spcAft>
              <a:defRPr sz="1600">
                <a:solidFill>
                  <a:srgbClr val="233142"/>
                </a:solidFill>
                <a:latin typeface="Aptos"/>
              </a:defRPr>
            </a:pPr>
            <a:r>
              <a:t>Only email addresses listed in the app allowlist can access the dashboard.</a:t>
            </a:r>
          </a:p>
          <a:p>
            <a:pPr>
              <a:spcAft>
                <a:spcPts val="1200"/>
              </a:spcAft>
              <a:defRPr sz="1600">
                <a:solidFill>
                  <a:srgbClr val="233142"/>
                </a:solidFill>
                <a:latin typeface="Aptos"/>
              </a:defRPr>
            </a:pPr>
            <a:r>
              <a:t>Local development mode bypasses sign-in; never deploy that mode.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5303520" cy="4297680"/>
          </a:xfrm>
          <a:prstGeom prst="roundRect">
            <a:avLst/>
          </a:prstGeom>
          <a:solidFill>
            <a:srgbClr val="EDF4FA"/>
          </a:solidFill>
          <a:ln>
            <a:solidFill>
              <a:srgbClr val="D9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828800"/>
            <a:ext cx="4846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35B96"/>
                </a:solidFill>
                <a:latin typeface="Aptos"/>
              </a:defRPr>
            </a:pPr>
            <a:r>
              <a:t>Hosting realities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404872"/>
            <a:ext cx="48463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233142"/>
                </a:solidFill>
                <a:latin typeface="Aptos"/>
              </a:defRPr>
            </a:pPr>
            <a:r>
              <a:t>Create and push a GitHub repository, then deploy its root app.py on Streamlit Community Cloud.</a:t>
            </a:r>
          </a:p>
          <a:p>
            <a:pPr>
              <a:spcAft>
                <a:spcPts val="1200"/>
              </a:spcAft>
              <a:defRPr sz="1600">
                <a:solidFill>
                  <a:srgbClr val="233142"/>
                </a:solidFill>
                <a:latin typeface="Aptos"/>
              </a:defRPr>
            </a:pPr>
            <a:r>
              <a:t>Cloud cannot read files on your Windows laptop; run locally for local server logs.</a:t>
            </a:r>
          </a:p>
          <a:p>
            <a:pPr>
              <a:spcAft>
                <a:spcPts val="1200"/>
              </a:spcAft>
              <a:defRPr sz="1600">
                <a:solidFill>
                  <a:srgbClr val="233142"/>
                </a:solidFill>
                <a:latin typeface="Aptos"/>
              </a:defRPr>
            </a:pPr>
            <a:r>
              <a:t>Cloud filesystem and SQLite history are not durable across restarts.</a:t>
            </a:r>
          </a:p>
          <a:p>
            <a:pPr>
              <a:spcAft>
                <a:spcPts val="1200"/>
              </a:spcAft>
              <a:defRPr sz="1600">
                <a:solidFill>
                  <a:srgbClr val="233142"/>
                </a:solidFill>
                <a:latin typeface="Aptos"/>
              </a:defRPr>
            </a:pPr>
            <a:r>
              <a:t>Use persistent storage and an authorized cloud log source for production.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64240" y="6510528"/>
            <a:ext cx="594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5C6F82"/>
                </a:solidFill>
                <a:latin typeface="Aptos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42415"/>
          </a:xfrm>
          <a:prstGeom prst="rect">
            <a:avLst/>
          </a:prstGeom>
          <a:solidFill>
            <a:srgbClr val="10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42415"/>
            <a:ext cx="12191695" cy="64008"/>
          </a:xfrm>
          <a:prstGeom prst="rect">
            <a:avLst/>
          </a:prstGeom>
          <a:solidFill>
            <a:srgbClr val="1FB5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64592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  <a:latin typeface="Aptos"/>
              </a:defRPr>
            </a:pPr>
            <a:r>
              <a:t>Try these IP examples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713232"/>
            <a:ext cx="107899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ACCEDE"/>
                </a:solidFill>
                <a:latin typeface="Aptos"/>
              </a:defRPr>
            </a:pPr>
            <a:r>
              <a:t>DEMO WORKFLOW AND API PRIVACY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45920"/>
            <a:ext cx="5303520" cy="4297680"/>
          </a:xfrm>
          <a:prstGeom prst="roundRect">
            <a:avLst/>
          </a:prstGeom>
          <a:solidFill>
            <a:srgbClr val="EDF4FA"/>
          </a:solidFill>
          <a:ln>
            <a:solidFill>
              <a:srgbClr val="D9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846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FB5AA"/>
                </a:solidFill>
                <a:latin typeface="Aptos"/>
              </a:defRPr>
            </a:pPr>
            <a:r>
              <a:t>Safe local demonstration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404872"/>
            <a:ext cx="48463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233142"/>
                </a:solidFill>
                <a:latin typeface="Aptos"/>
              </a:defRPr>
            </a:pPr>
            <a:r>
              <a:t>198.51.100.23 is reserved for documentation and listed in the demo CSV.</a:t>
            </a:r>
          </a:p>
          <a:p>
            <a:pPr>
              <a:spcAft>
                <a:spcPts val="1200"/>
              </a:spcAft>
              <a:defRPr sz="1600">
                <a:solidFill>
                  <a:srgbClr val="233142"/>
                </a:solidFill>
                <a:latin typeface="Aptos"/>
              </a:defRPr>
            </a:pPr>
            <a:r>
              <a:t>Select the local match example and Check reputation.</a:t>
            </a:r>
          </a:p>
          <a:p>
            <a:pPr>
              <a:spcAft>
                <a:spcPts val="1200"/>
              </a:spcAft>
              <a:defRPr sz="1600">
                <a:solidFill>
                  <a:srgbClr val="233142"/>
                </a:solidFill>
                <a:latin typeface="Aptos"/>
              </a:defRPr>
            </a:pPr>
            <a:r>
              <a:t>Expected result: SUSPICIOUS from the local list; no API key required.</a:t>
            </a:r>
          </a:p>
          <a:p>
            <a:pPr>
              <a:spcAft>
                <a:spcPts val="1200"/>
              </a:spcAft>
              <a:defRPr sz="1600">
                <a:solidFill>
                  <a:srgbClr val="233142"/>
                </a:solidFill>
                <a:latin typeface="Aptos"/>
              </a:defRPr>
            </a:pPr>
            <a:r>
              <a:t>It is a safe test indicator, not a real threat address.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5303520" cy="4297680"/>
          </a:xfrm>
          <a:prstGeom prst="roundRect">
            <a:avLst/>
          </a:prstGeom>
          <a:solidFill>
            <a:srgbClr val="EDF4FA"/>
          </a:solidFill>
          <a:ln>
            <a:solidFill>
              <a:srgbClr val="D9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828800"/>
            <a:ext cx="4846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35B96"/>
                </a:solidFill>
                <a:latin typeface="Aptos"/>
              </a:defRPr>
            </a:pPr>
            <a:r>
              <a:t>Optional live API lookup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404872"/>
            <a:ext cx="48463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233142"/>
                </a:solidFill>
                <a:latin typeface="Aptos"/>
              </a:defRPr>
            </a:pPr>
            <a:r>
              <a:t>8.8.8.8 (Google DNS) and 1.1.1.1 (Cloudflare DNS) are public examples, not malicious-IP samples.</a:t>
            </a:r>
          </a:p>
          <a:p>
            <a:pPr>
              <a:spcAft>
                <a:spcPts val="1200"/>
              </a:spcAft>
              <a:defRPr sz="1600">
                <a:solidFill>
                  <a:srgbClr val="233142"/>
                </a:solidFill>
                <a:latin typeface="Aptos"/>
              </a:defRPr>
            </a:pPr>
            <a:r>
              <a:t>Obtain your own AbuseIPDB API key and add it to private app secrets.</a:t>
            </a:r>
          </a:p>
          <a:p>
            <a:pPr>
              <a:spcAft>
                <a:spcPts val="1200"/>
              </a:spcAft>
              <a:defRPr sz="1600">
                <a:solidFill>
                  <a:srgbClr val="233142"/>
                </a:solidFill>
                <a:latin typeface="Aptos"/>
              </a:defRPr>
            </a:pPr>
            <a:r>
              <a:t>A configured lookup discloses the selected global IP to AbuseIPDB.</a:t>
            </a:r>
          </a:p>
          <a:p>
            <a:pPr>
              <a:spcAft>
                <a:spcPts val="1200"/>
              </a:spcAft>
              <a:defRPr sz="1600">
                <a:solidFill>
                  <a:srgbClr val="233142"/>
                </a:solidFill>
                <a:latin typeface="Aptos"/>
              </a:defRPr>
            </a:pPr>
            <a:r>
              <a:t>Without a key, public lookups are not performed; scores and quotas depend on the provider.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64240" y="6510528"/>
            <a:ext cx="594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5C6F82"/>
                </a:solidFill>
                <a:latin typeface="Aptos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Expanded investigation workspaces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Seven workspaces: Overview, IP reputation, Bulk investigation, Live log monitor, Threat intelligence, Activity, and Settings &amp; deployment.</a:t>
            </a:r>
          </a:p>
          <a:p>
            <a:pPr>
              <a:defRPr sz="2000"/>
            </a:pPr>
            <a:r>
              <a:t>Bulk checks accept up to 25 unique IPv4/IPv6 addresses; duplicates are removed and invalid entries are identified.</a:t>
            </a:r>
          </a:p>
          <a:p>
            <a:pPr>
              <a:defRPr sz="2000"/>
            </a:pPr>
            <a:r>
              <a:t>External AbuseIPDB lookups for batch checks require an explicit opt-in; local indicator checks work without an API key.</a:t>
            </a:r>
          </a:p>
          <a:p>
            <a:pPr>
              <a:defRPr sz="2000"/>
            </a:pPr>
            <a:r>
              <a:t>Search local indicators, filter event history by status/IP, and export batch or filtered history to CSV.</a:t>
            </a:r>
          </a:p>
          <a:p>
            <a:pPr>
              <a:defRPr sz="2000"/>
            </a:pPr>
            <a:r>
              <a:t>Offline validation: 12 unit tests pass; Streamlit AppTest renders all seven workspaces.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